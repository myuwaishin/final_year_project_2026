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Intelligent Grasp Failure Detection
and Autonomous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0C8E8"/>
                </a:solidFill>
                <a:latin typeface="Calibri"/>
              </a:rPr>
              <a:t>UR10 Robot  ·  OAK-D Lite  ·  OnRobot RG2  ·  CLIP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8C8"/>
                </a:solidFill>
                <a:latin typeface="Calibri"/>
              </a:rPr>
              <a:t>Myu Wai Shin  ·  PDE3802 Final Year Project  ·  Middlesex University  ·  2025/26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11480" tIns="1828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254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5477256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2D5F8A"/>
                </a:solidFill>
                <a:latin typeface="Calibri"/>
              </a:rPr>
              <a:t>Problem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Pick-and-place is a fundamental robot task — but standard systems assume the pick always works.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In practice, grasps fail silently: the robot carries an empty gripper to the place position.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This work focuses on the under-studied problem of adding intelligence to detect and recover from failures.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Key question: does the robot know it failed? What does it do about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216" y="1371600"/>
            <a:ext cx="5477256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2D5F8A"/>
                </a:solidFill>
                <a:latin typeface="Calibri"/>
              </a:rPr>
              <a:t>This Project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Two-part pipeline: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Grasp failure detection — did the robot actually pick the object?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Failure recovery — retry intelligently if it failed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Combined into a fully autonomous end-to-end pick-and-place loop.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System flowchart shows the complete decision path: detect target → pick → verify → recover if failed.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11480" tIns="1828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Aims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254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  <a:latin typeface="Calibri"/>
              </a:rPr>
              <a:t>Aim: Develop an autonomous pick-and-place system that can detect grasp failures and recover.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0"/>
            <a:ext cx="113659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YOLO object detection — locate objects and classify them (cube / cylinder)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Pose estimation — transform detected object position to robot coordinate frame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Read and interpret gripper IO signals — width (AI2 voltage) and contact force (DI8)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Train a binary visual classifier (CLIP + SVM probe) to confirm object in gripper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Implement 3-layer grasp failure detection: width → contact → visual (CLIP)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Develop slip detection during transit using continuous gripper monitoring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Integrate detection + recovery into a full end-to-end autonomous pipeline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Evaluate against quantitative targets: TPR ≥ 85%, TNR ≥ 85%, FPR &lt; 20%, task completion ≥ 70%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0"/>
            <a:ext cx="3657600" cy="381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Hardware &amp;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C8E8"/>
                </a:solidFill>
                <a:latin typeface="Calibri"/>
              </a:rPr>
              <a:t>What the system is built 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11480" tIns="1828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Hardware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254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5477256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2D5F8A"/>
                </a:solidFill>
                <a:latin typeface="Calibri"/>
              </a:rPr>
              <a:t>Robot + Gripper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Universal Robots UR10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Industrial 6-DOF collaborative arm with built-in IO registers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TCP/IP interface (ports 29999 and 30002) for robot control and sensor streaming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Does not expose grip force directly — must be read via secondary interface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OnRobot RG2 Parallel Jaw Gripper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Width sensor via AI2 (analog voltage, calibrated 10.5–91 mm)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Contact force limit via DI8 (digital signal HIGH when force limit reached)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Gripper programs loaded as URP files via teach pendant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216" y="1371600"/>
            <a:ext cx="5477256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2D5F8A"/>
                </a:solidFill>
                <a:latin typeface="Calibri"/>
              </a:rPr>
              <a:t>Camera &amp; Sensor Fusion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OAK-D Lite (Luxonis)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RGB-D stereo camera — provides colour image and depth per pixel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Eye-in-hand mount — wrist-mounted, moves with robot TCP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Used for: object detection, pose estimation, and CLIP visual verification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Why not just one sensor?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Width alone can't distinguish a missed pick from a loose grip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DI8 alone fires on partial contact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Vision (CLIP) adds a redundant 3rd check — catches edge cases both sensors miss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11480" tIns="1828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Software &amp; Libraries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254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5477256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2D5F8A"/>
                </a:solidFill>
                <a:latin typeface="Calibri"/>
              </a:rPr>
              <a:t>Core Libraries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Python 3.10 — primary development language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DepthAI SDK — OAK-D Lite camera driver and pipeline API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OpenCV (cv2) — image processing, ArUco detection, display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PyTorch + CUDA — GPU inference for CLIP and YOLO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OpenAI CLIP (ViT-B/32) — visual verification classifier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scikit-learn — SVM probe training on CLIP embeddings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Ultralytics YOLOv8 / YOLOv5 — object detection and OBB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216" y="1371600"/>
            <a:ext cx="5477256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2D5F8A"/>
                </a:solidFill>
                <a:latin typeface="Calibri"/>
              </a:rPr>
              <a:t>Communication &amp; Tools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socket + struct — binary packet decoding from UR secondary interface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threading — background sensor monitoring, parallel robot/camera loops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numpy — coordinate transforms, linear algebra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Pillow (PIL) — image preprocessing for CLIP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autodistill + GroundingDINO — auto-annotation of training dataset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OpenCV calibrateHandEye() — eye-in-hand calibration solver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URScript via port 30002 — direct robot motion commands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0"/>
            <a:ext cx="3657600" cy="381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Object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C8E8"/>
                </a:solidFill>
                <a:latin typeface="Calibri"/>
              </a:rPr>
              <a:t>YOLO + OBB on OAK-D 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11480" tIns="1828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YOLO Object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254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5477256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2D5F8A"/>
                </a:solidFill>
                <a:latin typeface="Calibri"/>
              </a:rPr>
              <a:t>Training &amp; Deployment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YOLOv5n, YOLOv8n, YOLOv8-OBB models trained on custom dataset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V3 dataset: 2,525 images, cubes and cylinders, auto-annotated with GroundingDINO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Deployed on OAK-D Lite using DepthAI pipeline (on-device inference)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Depth estimate per detection from stereo disparity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216" y="1371600"/>
            <a:ext cx="5477256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2D5F8A"/>
                </a:solidFill>
                <a:latin typeface="Calibri"/>
              </a:rPr>
              <a:t>Key Modifications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Modifications made for reliability: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Increased confidence threshold — filter out low-confidence detections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NMS IoU threshold reduced — suppress overlapping duplicate boxes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Temporal smoothing — only report detection if seen for 3 consecutive frames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OBB (Oriented Bounding Box) — gives object orientation for best grip angle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Standard box can't tell orientation of a cylinder or cube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OBB wraps tightly and provides rotation angle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Allows gripper to align to best pick orientation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11480" tIns="1828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YOLO — Limitations &amp; Notes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254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1136599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OBB model trained on slow camera rotation sweep — good for orientation but limited viewpoints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Mosaic augmentation during training caused confusion with backgrounds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Low confidence on edge cases; temporal smoothing helps but adds latency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No collision avoidance — detection does not account for robot arm obstructing view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Works best on simple objects (cubes, cylinders); complex shapes need larger vision models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Auto-annotation (GroundingDINO) can over-fire — ~10 false boxes/image at low threshold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Not 100% accurate — failure detection pipeline adds a safety net on top of detection errors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0"/>
            <a:ext cx="3657600" cy="381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Pose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C8E8"/>
                </a:solidFill>
                <a:latin typeface="Calibri"/>
              </a:rPr>
              <a:t>Eye-in-hand calibration → robot frame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11480" tIns="1828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Pose Estimation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254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5477256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2D5F8A"/>
                </a:solidFill>
                <a:latin typeface="Calibri"/>
              </a:rPr>
              <a:t>Calibration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Goal: transform detected object pixel location into robot base-frame XYZ coordinates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Camera configuration: Eye-in-hand — OAK-D Lite mounted on robot wrist (TCP)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Calibration is critical — without it, camera and robot frames are misaligned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Hand-eye calibration solves: camera → TCP rigid transform (R, t)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Used OpenCV calibrateHandEye() with 5 solver methods (Tsai, Park, Horaud…)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20–40 pose samples collected at varied positions and wrist angles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Reprojection error &lt; 2.0 px (excellent), &lt; 5.0 px (acceptable)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216" y="1371600"/>
            <a:ext cx="5477256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2D5F8A"/>
                </a:solidFill>
                <a:latin typeface="Calibri"/>
              </a:rPr>
              <a:t>Detection → Robot Frame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ArUco marker placed on pick target for reliable 6-DoF pose detection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PyStep: detect corners → solvePnP → tag pose in camera frame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Transform chain: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Tag (camera frame) × R_cam2tcp → Tag (TCP frame)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Tag (TCP frame) × FK (live robot pose) → Tag (base frame)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Output: XYZ pick target in mm (robot coordinates)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Visual alignment HUD: live TCP crosshair vs. tag centre overlay for verification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Limitation: calibration must be re-run if camera mount shifts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0"/>
            <a:ext cx="3657600" cy="381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Failure Detection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C8E8"/>
                </a:solidFill>
                <a:latin typeface="Calibri"/>
              </a:rPr>
              <a:t>3-layer grasp verification + slip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11480" tIns="1828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Reading Gripper IO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254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5477256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2D5F8A"/>
                </a:solidFill>
                <a:latin typeface="Calibri"/>
              </a:rPr>
              <a:t>Communication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All signals read from UR secondary interface — port 30002 binary stream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Python struct module decodes binary packets in real time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Background daemon thread updates sensor state continuously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AI2 (Analog Input 2): gripper width voltage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Raw voltage 0–3.7 V → raw mm 0–110 mm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Linear calibration applied (slope 1.405, offset -1.44)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Fully open ≈ 91 mm   |   Fully closed ≈ 10.5 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216" y="1371600"/>
            <a:ext cx="5477256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2D5F8A"/>
                </a:solidFill>
                <a:latin typeface="Calibri"/>
              </a:rPr>
              <a:t>Signal Interpretation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DI8 (Digital Input 8 / TDI1): contact force flag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Goes HIGH when gripper reaches force limit (object contacted)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Used as a boolean: HIGH = contact confirmed, LOW = no contact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UR10 does not expose raw grip force — DI8 is the available signal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Gripper state logic: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width ≥ 75 mm  →  gripper still open (close command failed)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width &lt; 11 mm  →  fully closed, missed object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12 &lt; width &lt; 75 mm AND DI8 HIGH  →  object confirmed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11480" tIns="1828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Grasp Failure Detection —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254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  <a:latin typeface="Calibri"/>
              </a:rPr>
              <a:t>Three independent detection layers — each is a hard gate: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20240"/>
            <a:ext cx="3514344" cy="457200"/>
          </a:xfrm>
          <a:prstGeom prst="rect">
            <a:avLst/>
          </a:prstGeom>
          <a:solidFill>
            <a:srgbClr val="2D8A4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229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Layer 1  ·  Width Sensor (AI2)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377440"/>
            <a:ext cx="3514344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2D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450592"/>
            <a:ext cx="333146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  <a:latin typeface="Calibri"/>
              </a:rPr>
              <a:t>Width in target range? Did the close command run?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7304" y="1920240"/>
            <a:ext cx="3514344" cy="4572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229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Layer 2  ·  Contact Signal (DI8)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7304" y="2377440"/>
            <a:ext cx="3514344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8744" y="2450592"/>
            <a:ext cx="333146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  <a:latin typeface="Calibri"/>
              </a:rPr>
              <a:t>DI8 HIGH? Force limit reached = object being gripped.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63128" y="1920240"/>
            <a:ext cx="3514344" cy="457200"/>
          </a:xfrm>
          <a:prstGeom prst="rect">
            <a:avLst/>
          </a:prstGeom>
          <a:solidFill>
            <a:srgbClr val="D47D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229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Layer 3  ·  CLIP Visual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63128" y="2377440"/>
            <a:ext cx="3514344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D4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4568" y="2450592"/>
            <a:ext cx="333146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  <a:latin typeface="Calibri"/>
              </a:rPr>
              <a:t>Camera image classified as 'Holding' ≥ 75% confidence?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11480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5F8A"/>
                </a:solidFill>
                <a:latin typeface="Calibri"/>
              </a:rPr>
              <a:t>DESCEND  →  CLOSE  →  [Layer 1+2: width + DI8]  →  LIFT  →  [Post-lift width]  →  [Layer 3: CLIP]  →  TRANSFER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617720"/>
            <a:ext cx="11365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  •  Any layer failing triggers retry (up to MAX_RETRIES = 3)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  •  Each failure path logs a specific failure type to the terminal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11480" tIns="1828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Slip Detection During Transit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254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5477256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2D5F8A"/>
                </a:solidFill>
                <a:latin typeface="Calibri"/>
              </a:rPr>
              <a:t>Problem &amp; Approach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Problem: object can slip OUT of gripper after grasp is confirmed — during movement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Standard detection only checks at pick point — misses mid-transfer drops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Solution: activate slip monitoring loop immediately after successful CLIP verification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Loop-close URP: gripper re-closes every cycle during transit, compensating micro-slips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Background thread monitors AI2 width continuously while robot moves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216" y="1371600"/>
            <a:ext cx="5477256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2D5F8A"/>
                </a:solidFill>
                <a:latin typeface="Calibri"/>
              </a:rPr>
              <a:t>Slip Logic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Slip event logic: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Had object (width &gt; 11 mm after pick) = True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Width drops below 11 mm during transit → slip detected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_slip_detected flag set → pipeline pauses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On slip detected: CLIP re-verify triggered automatically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If CLIP still says 'Holding' → false alarm, continue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If CLIP says 'Empty' → object lost, return and retry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This adds a 4th check not possible with gripper sensors alone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11480" tIns="1828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CLIP Visual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254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5477256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2D5F8A"/>
                </a:solidFill>
                <a:latin typeface="Calibri"/>
              </a:rPr>
              <a:t>What CLIP Is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CLIP (Contrastive Language–Image Pre-training) — OpenAI, ViT-B/32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Encodes images and text into the same embedding space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Similarity between image embedding and 'a gripper holding an object' vs 'an empty gripper'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Originally zero-shot: no labelled gripper images needed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Upgraded: trained a lightweight SVM probe on top of CLIP embeddings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Custom dataset: 600+ images of gripper holding / empty states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Collected with OAK-D Lite camera at pick verification height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SVM probe trained on CLIP features → 'Holding' / 'Empty'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216" y="1371600"/>
            <a:ext cx="5477256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2D5F8A"/>
                </a:solidFill>
                <a:latin typeface="Calibri"/>
              </a:rPr>
              <a:t>How It Is Used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Integration in pipeline: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Robot lifts to verification height (200 mm above pick Z)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Live camera frame captured — gripper region cropped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CLIP encodes crop → SVM probe classifies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Result displayed on monitor: label + confidence %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Result auto-expires after 3 s — window resets to standby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Two stages: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'Grasp Verification' — after initial lift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    ‒  'Slip Re-verify' — after slip event detected during transit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Threshold: ≥ 75% confidence to pass; below = fail / retry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11480" tIns="1828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254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  <a:latin typeface="Calibri"/>
              </a:rPr>
              <a:t>Recovery strategy: re-approach and retry (up to MAX_RETRIES =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113659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Layer 1 fail (width / DI8): open gripper → return to pick approach → close and recheck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Layer 2 fail (post-lift width): open gripper → return to pick approach → retry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Layer 3 fail (CLIP): open gripper → return to approach → retry from top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Slip mid-transit: CLIP re-verify first → if still lost, return to pick and retry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After MAX_RETRIES exhausted: pipeline reports failure and halts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34340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7D00"/>
                </a:solidFill>
                <a:latin typeface="Calibri"/>
              </a:rPr>
              <a:t>⚠  Current Status — Work In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113659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•  Detection of each failure type is fully implemented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•  Re-approach and retry loop is implemented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•  Advanced recovery strategies (e.g. adjusting pick pose, re-scanning) are planned but not yet integrated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C1C1C"/>
                </a:solidFill>
                <a:latin typeface="Calibri"/>
              </a:rPr>
              <a:t>  •  Limitation: calibration failure and collision avoidance are outside current scope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11480" tIns="1828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End-to-End Autonomous Pick-and-Place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254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2227478" cy="347472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1. 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16347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YOLO + DepthAI detect object. Depth gives approx Z.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84678" y="1371600"/>
            <a:ext cx="2227478" cy="347472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2. Locate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30398" y="1737360"/>
            <a:ext cx="216347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ArUco marker → pose estimation → robot XYZ coords.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7876" y="1371600"/>
            <a:ext cx="2227478" cy="347472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3.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3596" y="1737360"/>
            <a:ext cx="216347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Robot moves to pick approach height (100 mm above).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31075" y="1371600"/>
            <a:ext cx="2227478" cy="347472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4. Grip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76795" y="1737360"/>
            <a:ext cx="216347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Descend → close RG2 → settle 1.5 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4273" y="1371600"/>
            <a:ext cx="2227478" cy="347472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5. Check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9993" y="1737360"/>
            <a:ext cx="216347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Width + DI8: object in gripper? If fail → retry.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43200"/>
            <a:ext cx="2227478" cy="347472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6. Lift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08960"/>
            <a:ext cx="216347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Raise to CLIP verification height (200 mm above pick Z).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84678" y="2743200"/>
            <a:ext cx="2227478" cy="347472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7. Check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0398" y="3108960"/>
            <a:ext cx="216347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Post-lift width: still holding? If not → slip during lift.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7876" y="2743200"/>
            <a:ext cx="2227478" cy="347472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8. CLIP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3596" y="3108960"/>
            <a:ext cx="216347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Visual verification: 'Holding' ≥ 75%? If fail → retry.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31075" y="2743200"/>
            <a:ext cx="2227478" cy="347472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9. Transit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6795" y="3108960"/>
            <a:ext cx="216347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Transfer to place position with slip monitor active.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4273" y="2743200"/>
            <a:ext cx="2227478" cy="347472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10. 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9993" y="3108960"/>
            <a:ext cx="216347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Calibri"/>
              </a:rPr>
              <a:t>Lower → open gripper → retract → task complete.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20624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8A4E"/>
                </a:solidFill>
                <a:latin typeface="Calibri"/>
              </a:rPr>
              <a:t>✓  All stages run autonomously in a loop — no human intervention required between picks.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0"/>
            <a:ext cx="3657600" cy="381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Testing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C8E8"/>
                </a:solidFill>
                <a:latin typeface="Calibri"/>
              </a:rPr>
              <a:t>Evaluation protocol and outcomes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11480" tIns="1828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Testing &amp; Evaluation Targets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254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  <a:latin typeface="Calibri"/>
              </a:rPr>
              <a:t>90-trial evaluation protocol — 30 successful grasps, 30 failed grasps, 30 slip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65960"/>
            <a:ext cx="2542032" cy="475488"/>
          </a:xfrm>
          <a:prstGeom prst="rect">
            <a:avLst/>
          </a:prstGeom>
          <a:solidFill>
            <a:srgbClr val="1A2E4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020824"/>
            <a:ext cx="2423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1965960"/>
            <a:ext cx="2267712" cy="475488"/>
          </a:xfrm>
          <a:prstGeom prst="rect">
            <a:avLst/>
          </a:prstGeom>
          <a:solidFill>
            <a:srgbClr val="1A2E4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35808" y="2020824"/>
            <a:ext cx="2148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Formula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1965960"/>
            <a:ext cx="1078992" cy="475488"/>
          </a:xfrm>
          <a:prstGeom prst="rect">
            <a:avLst/>
          </a:prstGeom>
          <a:solidFill>
            <a:srgbClr val="1A2E4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21808" y="2020824"/>
            <a:ext cx="960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965960"/>
            <a:ext cx="5285232" cy="475488"/>
          </a:xfrm>
          <a:prstGeom prst="rect">
            <a:avLst/>
          </a:prstGeom>
          <a:solidFill>
            <a:srgbClr val="1A2E4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020824"/>
            <a:ext cx="5166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441448"/>
            <a:ext cx="254203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496312"/>
            <a:ext cx="2423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True Positive Rate (TPR)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2441448"/>
            <a:ext cx="226771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5808" y="2496312"/>
            <a:ext cx="2148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TP / (TP + FN)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2441448"/>
            <a:ext cx="107899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8" y="2496312"/>
            <a:ext cx="960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≥ 85%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441448"/>
            <a:ext cx="528523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2496312"/>
            <a:ext cx="5166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Successful grasps correctly confirmed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916936"/>
            <a:ext cx="2542032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971800"/>
            <a:ext cx="2423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True Negative Rate (TNR)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71800" y="2916936"/>
            <a:ext cx="2267712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35808" y="2971800"/>
            <a:ext cx="2148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TN / (TN + FP)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2916936"/>
            <a:ext cx="1078992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21808" y="2971800"/>
            <a:ext cx="960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≥ 85%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916936"/>
            <a:ext cx="5285232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2971800"/>
            <a:ext cx="5166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Failed grasps correctly identified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392424"/>
            <a:ext cx="254203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3447288"/>
            <a:ext cx="2423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False Positive Rate (FPR)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71800" y="3392424"/>
            <a:ext cx="226771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35808" y="3447288"/>
            <a:ext cx="2148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FP / (FP + TN)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57800" y="3392424"/>
            <a:ext cx="107899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21808" y="3447288"/>
            <a:ext cx="960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&lt; 20%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3392424"/>
            <a:ext cx="528523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3447288"/>
            <a:ext cx="5166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System says success when grasp failed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3867912"/>
            <a:ext cx="2542032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" y="3922776"/>
            <a:ext cx="2423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Overall Accuracy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71800" y="3867912"/>
            <a:ext cx="2267712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35808" y="3922776"/>
            <a:ext cx="2148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(TP + TN) / 90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57800" y="3867912"/>
            <a:ext cx="1078992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21808" y="3922776"/>
            <a:ext cx="960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≥ 85%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3867912"/>
            <a:ext cx="5285232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9088" y="3922776"/>
            <a:ext cx="5166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Combined correct verdicts across all trials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4343400"/>
            <a:ext cx="254203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4398264"/>
            <a:ext cx="2423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Recovery Success Rate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71800" y="4343400"/>
            <a:ext cx="226771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35808" y="4398264"/>
            <a:ext cx="2148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Recoveries succeeded / attempted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57800" y="4343400"/>
            <a:ext cx="107899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21808" y="4398264"/>
            <a:ext cx="960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≥ 70%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4343400"/>
            <a:ext cx="528523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19088" y="4398264"/>
            <a:ext cx="5166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Failed grasps resolved by recovery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4818888"/>
            <a:ext cx="2542032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488" y="4873752"/>
            <a:ext cx="2423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End-to-end Completion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71800" y="4818888"/>
            <a:ext cx="2267712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35808" y="4873752"/>
            <a:ext cx="2148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Successful placements / 90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57800" y="4818888"/>
            <a:ext cx="1078992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21808" y="4873752"/>
            <a:ext cx="960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≥ 70%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55080" y="4818888"/>
            <a:ext cx="5285232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19088" y="4873752"/>
            <a:ext cx="5166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Overall system performance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11480" tIns="1828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254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7D00"/>
                </a:solidFill>
                <a:latin typeface="Calibri"/>
              </a:rPr>
              <a:t>[INSERT RESULTS TABLE / CHARTS HERE]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57400"/>
            <a:ext cx="1136599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Report measured TPR, TNR, FPR, Overall Accuracy, Recovery Rate, Task Completion Rate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Show comparison: detection-only pipeline vs. full detection + recovery pipeline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Include demo video screenshots or frames showing: successful pick, detected failure, recovery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Highlight any cases where CLIP disagreed with width/DI8 — discuss sensor fusion benefit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39496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D5F8A"/>
                </a:solidFill>
                <a:latin typeface="Calibri"/>
              </a:rPr>
              <a:t>→ Add your actual measured values and video evidence here before presenting.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11480" tIns="1828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254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5477256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2D5F8A"/>
                </a:solidFill>
                <a:latin typeface="Calibri"/>
              </a:rPr>
              <a:t>Current Limitations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No collision avoidance — robot does not model obstacles in workspace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Calibration drift — hand-eye calibration must be re-run if camera shifts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CLIP accuracy not 100% — uncertain predictions on poor lighting or extreme crops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Gripper force not readable from Python — only binary DI8 contact flag available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Recovery re-approach assumes object is still in the same position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No object re-detection if object moves between attempts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216" y="1371600"/>
            <a:ext cx="5477256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2D5F8A"/>
                </a:solidFill>
                <a:latin typeface="Calibri"/>
              </a:rPr>
              <a:t>Future Work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Advanced recovery strategies (adjust pick pose, rotate approach angle)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Replace URP-based gripper control with direct force torque sensing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Extend CLIP training dataset for more challenging lighting/backgrounds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Add object re-detection before each retry attempt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Generalise to arbitrary objects (beyond cubes and cylinders)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C1C1C"/>
                </a:solidFill>
                <a:latin typeface="Calibri"/>
              </a:rPr>
              <a:t>  •  Integrate with motion planning for collision-aware trajectories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560320"/>
            <a:ext cx="5486400" cy="381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>
                <a:solidFill>
                  <a:srgbClr val="D8E8F5"/>
                </a:solidFill>
                <a:latin typeface="Calibri"/>
              </a:rPr>
              <a:t>  •  Built a 3-layer grasp failure detection pipeline: width + DI8 + CLIP visual</a:t>
            </a:r>
          </a:p>
          <a:p>
            <a:pPr>
              <a:spcAft>
                <a:spcPts val="300"/>
              </a:spcAft>
            </a:pPr>
            <a:r>
              <a:rPr sz="1700">
                <a:solidFill>
                  <a:srgbClr val="D8E8F5"/>
                </a:solidFill>
                <a:latin typeface="Calibri"/>
              </a:rPr>
              <a:t>  •  Implemented slip detection via continuous gripper monitoring during transit</a:t>
            </a:r>
          </a:p>
          <a:p>
            <a:pPr>
              <a:spcAft>
                <a:spcPts val="300"/>
              </a:spcAft>
            </a:pPr>
            <a:r>
              <a:rPr sz="1700">
                <a:solidFill>
                  <a:srgbClr val="D8E8F5"/>
                </a:solidFill>
                <a:latin typeface="Calibri"/>
              </a:rPr>
              <a:t>  •  Integrated CLIP (ViT-B/32) + custom SVM probe for vision-based grasp confirmation</a:t>
            </a:r>
          </a:p>
          <a:p>
            <a:pPr>
              <a:spcAft>
                <a:spcPts val="300"/>
              </a:spcAft>
            </a:pPr>
            <a:r>
              <a:rPr sz="1700">
                <a:solidFill>
                  <a:srgbClr val="D8E8F5"/>
                </a:solidFill>
                <a:latin typeface="Calibri"/>
              </a:rPr>
              <a:t>  •  Developed end-to-end autonomous pick-and-place with detection and recovery loop</a:t>
            </a:r>
          </a:p>
          <a:p>
            <a:pPr>
              <a:spcAft>
                <a:spcPts val="300"/>
              </a:spcAft>
            </a:pPr>
            <a:r>
              <a:rPr sz="1700">
                <a:solidFill>
                  <a:srgbClr val="D8E8F5"/>
                </a:solidFill>
                <a:latin typeface="Calibri"/>
              </a:rPr>
              <a:t>  •  Evaluation targets: TPR ≥ 85%, FPR &lt; 20%, Task completion ≥ 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9AB8"/>
                </a:solidFill>
                <a:latin typeface="Calibri"/>
              </a:rPr>
              <a:t>Myu Wai Shin  ·  PDE3802 Final Year Project  ·  Middlesex University  ·  2025/26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