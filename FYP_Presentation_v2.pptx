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64008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Intelligent Grasp Failure
Detection and Autonomous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0BEDE"/>
                </a:solidFill>
                <a:latin typeface="Calibri"/>
              </a:rPr>
              <a:t>UR10   ·   OnRobot RG2   ·   OAK-D Lite   ·   CLIP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A0C0"/>
                </a:solidFill>
                <a:latin typeface="Calibri"/>
              </a:rPr>
              <a:t>Myu Wai Shin  ·  PDE3802 Final Year Project  ·  Middlesex University  ·  2025/26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5F8A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  <a:latin typeface="Calibri"/>
              </a:rPr>
              <a:t>Robotic pick-and-place systems assume the grasp works.
When it fails, the robot carries an empty gripper — unaware.
This is a critical gap: the system does not know it failed.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234440"/>
            <a:ext cx="5257800" cy="5394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8E8F5"/>
                </a:solidFill>
                <a:latin typeface="Calibri"/>
              </a:rPr>
              <a:t>This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① Detect whether the grasp succeeded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② If it failed — detect why and recover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6118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③ Loop: fully autonomous pick-and-place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5720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BEDE"/>
                </a:solidFill>
                <a:latin typeface="Calibri"/>
              </a:rPr>
              <a:t>Focus: adding intelligence to what happens after a failure — not just training the robot to pick.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Aims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1365992" cy="566928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Aim: Develop an autonomous pick-and-place system capable of detecting grasp failures and recovering.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637276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384048" cy="89611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84832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75104"/>
            <a:ext cx="511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YOLO Object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22576"/>
            <a:ext cx="51160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Locate and classify objects (cube / cylinder) in the workspace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0196" y="1920240"/>
            <a:ext cx="5637276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0196" y="1920240"/>
            <a:ext cx="384048" cy="89611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0196" y="2084832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7396" y="1975104"/>
            <a:ext cx="511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Pose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7396" y="2322576"/>
            <a:ext cx="51160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Transform pixel detection → robot XYZ coordinates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07792"/>
            <a:ext cx="5637276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907792"/>
            <a:ext cx="384048" cy="89611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072384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962656"/>
            <a:ext cx="511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Gripper IO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310128"/>
            <a:ext cx="51160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Read width (AI2) and contact force (DI8) from RG2 in real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2907792"/>
            <a:ext cx="5637276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0196" y="2907792"/>
            <a:ext cx="384048" cy="89611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0196" y="3072384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7396" y="2962656"/>
            <a:ext cx="511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Visual Classifier (CLIP)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7396" y="3310128"/>
            <a:ext cx="51160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Linear probe on CLIP embeddings: confirm object in gripper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895344"/>
            <a:ext cx="5637276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895344"/>
            <a:ext cx="384048" cy="89611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059936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950208"/>
            <a:ext cx="511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3-Layer Failure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297680"/>
            <a:ext cx="51160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Width → Contact → CLIP: redundant independent checks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0196" y="3895344"/>
            <a:ext cx="5637276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40196" y="3895344"/>
            <a:ext cx="384048" cy="89611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0196" y="4059936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7396" y="3950208"/>
            <a:ext cx="511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Slip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7396" y="4297680"/>
            <a:ext cx="51160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Monitor grip during transit; detect mid-move object loss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882896"/>
            <a:ext cx="5637276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882896"/>
            <a:ext cx="384048" cy="89611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937760"/>
            <a:ext cx="5116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Calibri"/>
              </a:rPr>
              <a:t>Recovery Integration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285232"/>
            <a:ext cx="51160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Retry loop: return to pick, re-approach, re-verify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88920"/>
            <a:ext cx="4572000" cy="508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Hardware &amp;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BEDE"/>
                </a:solidFill>
                <a:latin typeface="Calibri"/>
              </a:rPr>
              <a:t>What the system is built 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3514344" cy="9144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240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UR10
Robot Arm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240280"/>
            <a:ext cx="351434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240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6-DOF industrial collaborative 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240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TCP/IP interface (ports 29999 &amp; 30002)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3240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IO registers: AI2 (analog) + DI8 (digital)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7304" y="1280160"/>
            <a:ext cx="3514344" cy="9144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4464" y="1371600"/>
            <a:ext cx="3240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OnRobot RG2
Gripper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7304" y="2240280"/>
            <a:ext cx="351434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4464" y="2423160"/>
            <a:ext cx="3240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Parallel jaw — max 110 mm width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4464" y="3108960"/>
            <a:ext cx="3240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AI2: width voltage (calibrated ±1 mm)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4464" y="3794760"/>
            <a:ext cx="3240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DI8: HIGH when force limit reached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3128" y="1280160"/>
            <a:ext cx="3514344" cy="914400"/>
          </a:xfrm>
          <a:prstGeom prst="rect">
            <a:avLst/>
          </a:prstGeom>
          <a:solidFill>
            <a:srgbClr val="1E6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0288" y="1371600"/>
            <a:ext cx="3240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OAK-D Lite
Camera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63128" y="2240280"/>
            <a:ext cx="3514344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0288" y="2423160"/>
            <a:ext cx="3240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RGB-D stereo — colour + depth per pixel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0288" y="3108960"/>
            <a:ext cx="3240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Eye-in-hand: wrist-mounted, moves with TCP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0288" y="3794760"/>
            <a:ext cx="32400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Detection · Pose · CLIP verification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172200"/>
            <a:ext cx="11365992" cy="658368"/>
          </a:xfrm>
          <a:prstGeom prst="rect">
            <a:avLst/>
          </a:prstGeom>
          <a:solidFill>
            <a:srgbClr val="D8E8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26364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Why width + force + vision?  — Each sensor catches failures the others miss. Width alone can't confirm contact; DI8 fires on partial touch; CLIP adds a visual ground truth.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Software &amp; Libraries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5271516" cy="41148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35024"/>
            <a:ext cx="49971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Robot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5271516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socket + struct — binary UR packet decoding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URScript via port 30002 — motion 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62656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URP files (teach pendant) — gripper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5956" y="1280160"/>
            <a:ext cx="5271516" cy="41148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3116" y="1335024"/>
            <a:ext cx="49971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Vision &amp;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5956" y="1691640"/>
            <a:ext cx="5271516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3116" y="1828800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DepthAI SDK — OAK-D Lite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3116" y="2395728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OpenCV — ArUco, image processing, 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3116" y="2962656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Ultralytics YOLOv8 / YOLOv5 OBB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977640"/>
            <a:ext cx="5271516" cy="411480"/>
          </a:xfrm>
          <a:prstGeom prst="rect">
            <a:avLst/>
          </a:prstGeom>
          <a:solidFill>
            <a:srgbClr val="1E6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32504"/>
            <a:ext cx="49971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AI &amp; Classification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389120"/>
            <a:ext cx="5271516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26280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PyTorch + CUDA — GPU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93208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OpenAI CLIP ViT-B/32 — image 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0136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scikit-learn — Logistic Regression (linear probe)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5956" y="3977640"/>
            <a:ext cx="5271516" cy="411480"/>
          </a:xfrm>
          <a:prstGeom prst="rect">
            <a:avLst/>
          </a:prstGeom>
          <a:solidFill>
            <a:srgbClr val="5A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3116" y="4032504"/>
            <a:ext cx="49971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 &amp; 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05956" y="4389120"/>
            <a:ext cx="5271516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3116" y="4526280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numpy + Pillow — transforms, preprocessing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5093208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GroundingDINO + autodistill — auto-annotation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3116" y="5660136"/>
            <a:ext cx="49971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  <a:latin typeface="Calibri"/>
              </a:rPr>
              <a:t>• OpenCV calibrateHandEye() — eye-in-hand solver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88920"/>
            <a:ext cx="4572000" cy="508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Object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BEDE"/>
                </a:solidFill>
                <a:latin typeface="Calibri"/>
              </a:rPr>
              <a:t>YOLO + OBB on OAK-D 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YOLO Object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3035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5F8A"/>
                </a:solidFill>
                <a:latin typeface="Calibri"/>
              </a:rPr>
              <a:t>Training &amp;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Models: YOLOv5n, YOLOv8n, YOLOv8-OBB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Dataset V3: 2,525 images — cubes &amp; cylinders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Auto-annotated with GroundingDINO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Deployed on OAK-D Lite via DepthAI pipeline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Depth estimate from stereo disparity per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17320"/>
            <a:ext cx="5696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5F8A"/>
                </a:solidFill>
                <a:latin typeface="Calibri"/>
              </a:rPr>
              <a:t>Key Modifications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874520"/>
            <a:ext cx="5696712" cy="109728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5422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Confidence Threshold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40"/>
            <a:ext cx="5422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8F5"/>
                </a:solidFill>
                <a:latin typeface="Calibri"/>
              </a:rPr>
              <a:t>Raised threshold to filter out weak detections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3044952"/>
            <a:ext cx="5696712" cy="109728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136392"/>
            <a:ext cx="5422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NMS IoU 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47872"/>
            <a:ext cx="5422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8F5"/>
                </a:solidFill>
                <a:latin typeface="Calibri"/>
              </a:rPr>
              <a:t>Suppresses duplicate overlapping boxes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4215384"/>
            <a:ext cx="5696712" cy="1097280"/>
          </a:xfrm>
          <a:prstGeom prst="rect">
            <a:avLst/>
          </a:prstGeom>
          <a:solidFill>
            <a:srgbClr val="1E6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306824"/>
            <a:ext cx="5422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Temporal Smoothing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718304"/>
            <a:ext cx="5422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8F5"/>
                </a:solidFill>
                <a:latin typeface="Calibri"/>
              </a:rPr>
              <a:t>Only reports object if seen for 3 consecutive frames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385816"/>
            <a:ext cx="5696712" cy="1097280"/>
          </a:xfrm>
          <a:prstGeom prst="rect">
            <a:avLst/>
          </a:prstGeom>
          <a:solidFill>
            <a:srgbClr val="5A3A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5477256"/>
            <a:ext cx="5422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OBB — Orientation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888736"/>
            <a:ext cx="5422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8F5"/>
                </a:solidFill>
                <a:latin typeface="Calibri"/>
              </a:rPr>
              <a:t>Oriented Bounding Box gives rotation angle → best grip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88920"/>
            <a:ext cx="4572000" cy="508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Pose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BEDE"/>
                </a:solidFill>
                <a:latin typeface="Calibri"/>
              </a:rPr>
              <a:t>Eye-in-hand calibration → robot frame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Pose Estimation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2181758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35024"/>
            <a:ext cx="218175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Camera
Calibration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03120"/>
            <a:ext cx="218175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199887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Intrinsics via
charuco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3238" y="160020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4678" y="1280160"/>
            <a:ext cx="2181758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4678" y="1335024"/>
            <a:ext cx="218175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Hand-Eye
Calibration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4678" y="2103120"/>
            <a:ext cx="218175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6118" y="2194560"/>
            <a:ext cx="199887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20–40 poses → OpenCV
calibrateHandEye()
solves camera→TCP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6436" y="160020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7876" y="1280160"/>
            <a:ext cx="2181758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7876" y="1335024"/>
            <a:ext cx="218175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ArUco
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7876" y="2103120"/>
            <a:ext cx="218175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9316" y="2194560"/>
            <a:ext cx="199887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6×6 marker on target →
6-DoF pose in
camera 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9635" y="160020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1075" y="1280160"/>
            <a:ext cx="2181758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1075" y="1335024"/>
            <a:ext cx="218175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Coord
Transform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1075" y="2103120"/>
            <a:ext cx="218175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2515" y="2194560"/>
            <a:ext cx="199887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Camera → TCP → Base
frame using FK
(live robot pose)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2833" y="160020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4273" y="1280160"/>
            <a:ext cx="2181758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4273" y="1335024"/>
            <a:ext cx="218175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Robot
XYZ 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4273" y="2103120"/>
            <a:ext cx="218175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95713" y="2194560"/>
            <a:ext cx="199887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Pick target in mm
in robot base frame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206240"/>
            <a:ext cx="11365992" cy="566928"/>
          </a:xfrm>
          <a:prstGeom prst="rect">
            <a:avLst/>
          </a:prstGeom>
          <a:solidFill>
            <a:srgbClr val="D8E8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97680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A"/>
                </a:solidFill>
                <a:latin typeface="Calibri"/>
              </a:rPr>
              <a:t>Eye-in-hand: camera moves with the wrist — calibration gives a fixed camera→TCP offset, valid for all robot poses.  Reprojection error achieved: &lt; 2.0 px.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892040"/>
            <a:ext cx="11365992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9834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5F8A"/>
                </a:solidFill>
                <a:latin typeface="Calibri"/>
              </a:rPr>
              <a:t>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349240"/>
            <a:ext cx="110002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• Calibration must be re-run if camera mount shifts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• Assumes ArUco marker is placed on or near the pick target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C1C1C"/>
                </a:solidFill>
                <a:latin typeface="Calibri"/>
              </a:rPr>
              <a:t>• Accuracy depends on board detection quality and number of poses collected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88920"/>
            <a:ext cx="4572000" cy="508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Failure Detection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BEDE"/>
                </a:solidFill>
                <a:latin typeface="Calibri"/>
              </a:rPr>
              <a:t>Gripper signals · Visual verification · Slip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Reading Gripper IO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5477256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35024"/>
            <a:ext cx="5202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AI2 — Width (Analog)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8F5"/>
                </a:solidFill>
                <a:latin typeface="Calibri"/>
              </a:rPr>
              <a:t>Gripper finger spread in mm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03120"/>
            <a:ext cx="547725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202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Voltage read from UR secondary interface (port 30002)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98648"/>
            <a:ext cx="5202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Raw voltage → raw mm → calibrated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57016"/>
            <a:ext cx="5202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Linear calibration:  slope 1.405 · offset -1.44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15384"/>
            <a:ext cx="5202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Fully open ≈ 91 mm   |   Fully closed ≈ 10.5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73752"/>
            <a:ext cx="5202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Accuracy: ± 1 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216" y="1280160"/>
            <a:ext cx="5477256" cy="82296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335024"/>
            <a:ext cx="5202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DI8 — Contact Force (Digital)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755648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8F5"/>
                </a:solidFill>
                <a:latin typeface="Calibri"/>
              </a:rPr>
              <a:t>ON/OFF flag when force limit reached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216" y="2103120"/>
            <a:ext cx="547725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240280"/>
            <a:ext cx="5202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Digital register read from same binary 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898648"/>
            <a:ext cx="5202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HIGH = gripper reached programmed force 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557016"/>
            <a:ext cx="5202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Acts as a contact confirmation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215384"/>
            <a:ext cx="5202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UR10 does not expose raw force value — DI8 is the available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4873752"/>
            <a:ext cx="52029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  <a:latin typeface="Calibri"/>
              </a:rPr>
              <a:t>• Background daemon thread monitors both signals at ~25 Hz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080760"/>
            <a:ext cx="3742944" cy="749808"/>
          </a:xfrm>
          <a:prstGeom prst="rect">
            <a:avLst/>
          </a:prstGeom>
          <a:solidFill>
            <a:srgbClr val="C872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2648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width ≥ 75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Gripper still open — close command failed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144" y="6080760"/>
            <a:ext cx="3742944" cy="749808"/>
          </a:xfrm>
          <a:prstGeom prst="rect">
            <a:avLst/>
          </a:prstGeom>
          <a:solidFill>
            <a:srgbClr val="C872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1584" y="612648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width &lt; 11 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1584" y="644652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Fully closed — missed object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88808" y="6080760"/>
            <a:ext cx="3742944" cy="749808"/>
          </a:xfrm>
          <a:prstGeom prst="rect">
            <a:avLst/>
          </a:prstGeom>
          <a:solidFill>
            <a:srgbClr val="1E7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0248" y="612648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12–75 mm &amp; DI8 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0248" y="644652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Object confirmed  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Grasp Failure Detection — 3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3514344" cy="50292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353312"/>
            <a:ext cx="3294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1  ·  Width + DI8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3514344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3240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Calibri"/>
              </a:rPr>
              <a:t>Checks: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32400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1C"/>
                </a:solidFill>
                <a:latin typeface="Calibri"/>
              </a:rPr>
              <a:t>Width in valid range?
&amp; DI8 HIGH (contact)?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611880"/>
            <a:ext cx="3514344" cy="658368"/>
          </a:xfrm>
          <a:prstGeom prst="rect">
            <a:avLst/>
          </a:prstGeom>
          <a:solidFill>
            <a:srgbClr val="D8E8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3675888"/>
            <a:ext cx="3294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2E4A"/>
                </a:solidFill>
                <a:latin typeface="Calibri"/>
              </a:rPr>
              <a:t>Checks immediately after gripping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343400"/>
            <a:ext cx="1711452" cy="457200"/>
          </a:xfrm>
          <a:prstGeom prst="rect">
            <a:avLst/>
          </a:prstGeom>
          <a:solidFill>
            <a:srgbClr val="C835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370832"/>
            <a:ext cx="16657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FAIL → retry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4372" y="4343400"/>
            <a:ext cx="1711452" cy="457200"/>
          </a:xfrm>
          <a:prstGeom prst="rect">
            <a:avLst/>
          </a:prstGeom>
          <a:solidFill>
            <a:srgbClr val="1E7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60092" y="4370832"/>
            <a:ext cx="16657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PASS → next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7304" y="1280160"/>
            <a:ext cx="3514344" cy="50292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7032" y="1353312"/>
            <a:ext cx="3294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2  ·  Post-lift Width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7304" y="1783080"/>
            <a:ext cx="3514344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4464" y="1874520"/>
            <a:ext cx="3240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F8A"/>
                </a:solidFill>
                <a:latin typeface="Calibri"/>
              </a:rPr>
              <a:t>Checks: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4464" y="2212848"/>
            <a:ext cx="32400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1C"/>
                </a:solidFill>
                <a:latin typeface="Calibri"/>
              </a:rPr>
              <a:t>Width still &gt; 11 mm
after lifting?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7304" y="3611880"/>
            <a:ext cx="3514344" cy="658368"/>
          </a:xfrm>
          <a:prstGeom prst="rect">
            <a:avLst/>
          </a:prstGeom>
          <a:solidFill>
            <a:srgbClr val="D8E8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7032" y="3675888"/>
            <a:ext cx="3294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2E4A"/>
                </a:solidFill>
                <a:latin typeface="Calibri"/>
              </a:rPr>
              <a:t>Catches objects slipped during lift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7304" y="4343400"/>
            <a:ext cx="1711452" cy="457200"/>
          </a:xfrm>
          <a:prstGeom prst="rect">
            <a:avLst/>
          </a:prstGeom>
          <a:solidFill>
            <a:srgbClr val="C835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3024" y="4370832"/>
            <a:ext cx="16657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FAIL → retry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0196" y="4343400"/>
            <a:ext cx="1711452" cy="457200"/>
          </a:xfrm>
          <a:prstGeom prst="rect">
            <a:avLst/>
          </a:prstGeom>
          <a:solidFill>
            <a:srgbClr val="1E7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5916" y="4370832"/>
            <a:ext cx="16657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PASS → next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3128" y="1280160"/>
            <a:ext cx="3514344" cy="502920"/>
          </a:xfrm>
          <a:prstGeom prst="rect">
            <a:avLst/>
          </a:prstGeom>
          <a:solidFill>
            <a:srgbClr val="1E6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2856" y="1353312"/>
            <a:ext cx="3294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3  ·  CLIP Visual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3128" y="1783080"/>
            <a:ext cx="3514344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6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0288" y="1874520"/>
            <a:ext cx="3240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E45"/>
                </a:solidFill>
                <a:latin typeface="Calibri"/>
              </a:rPr>
              <a:t>Checks: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0288" y="2212848"/>
            <a:ext cx="32400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1C"/>
                </a:solidFill>
                <a:latin typeface="Calibri"/>
              </a:rPr>
              <a:t>Camera: 'Holding'
≥ 75% confidence?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3128" y="3611880"/>
            <a:ext cx="3514344" cy="658368"/>
          </a:xfrm>
          <a:prstGeom prst="rect">
            <a:avLst/>
          </a:prstGeom>
          <a:solidFill>
            <a:srgbClr val="D8E8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2856" y="3675888"/>
            <a:ext cx="3294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2E4A"/>
                </a:solidFill>
                <a:latin typeface="Calibri"/>
              </a:rPr>
              <a:t>Visual ground truth — independent of sensors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63128" y="4343400"/>
            <a:ext cx="1711452" cy="457200"/>
          </a:xfrm>
          <a:prstGeom prst="rect">
            <a:avLst/>
          </a:prstGeom>
          <a:solidFill>
            <a:srgbClr val="C835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8848" y="4370832"/>
            <a:ext cx="16657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FAIL → retry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66020" y="4343400"/>
            <a:ext cx="1711452" cy="457200"/>
          </a:xfrm>
          <a:prstGeom prst="rect">
            <a:avLst/>
          </a:prstGeom>
          <a:solidFill>
            <a:srgbClr val="1E7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11740" y="4370832"/>
            <a:ext cx="16657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PASS → next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89204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5F8A"/>
                </a:solidFill>
                <a:latin typeface="Calibri"/>
              </a:rPr>
              <a:t>DESCEND  →  GRIP  →  [L1]  →  LIFT  →  [L2]  →  [L3: CLIP]  →  TRANSFER  →  [Slip?]  →  PLACE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CLIP Visual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029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5F8A"/>
                </a:solidFill>
                <a:latin typeface="Calibri"/>
              </a:rPr>
              <a:t>What is CLIP?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CLIP (OpenAI, ViT-B/32) encodes images and text into the same vector space — making it possible to compare an image directly to a text description.
Image crop of gripper  →  CLIP  →  512-dim feature vector
A Logistic Regression linear probe is trained on top of these features using ~600 real gripper images:
  • Holding  (object between fingers)
  • Empty  (no object)
Result: label + confidence % in &lt; 200 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417320"/>
            <a:ext cx="5971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5F8A"/>
                </a:solidFill>
                <a:latin typeface="Calibri"/>
              </a:rPr>
              <a:t>In the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874520"/>
            <a:ext cx="5971032" cy="73152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929384"/>
            <a:ext cx="5751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①  Lift to CLIP height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6168" y="2258568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8F5"/>
                </a:solidFill>
                <a:latin typeface="Calibri"/>
              </a:rPr>
              <a:t>200 mm above pick 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2670048"/>
            <a:ext cx="5971032" cy="73152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16168" y="2724912"/>
            <a:ext cx="5751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②  Flush camera buffer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3054096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8F5"/>
                </a:solidFill>
                <a:latin typeface="Calibri"/>
              </a:rPr>
              <a:t>0.6 s settle — ensures fresh, sharp frame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3465576"/>
            <a:ext cx="5971032" cy="73152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520440"/>
            <a:ext cx="5751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③  Crop gripper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3849624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8F5"/>
                </a:solidFill>
                <a:latin typeface="Calibri"/>
              </a:rPr>
              <a:t>Fixed crop centred on gripper tip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4261104"/>
            <a:ext cx="5971032" cy="73152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16168" y="4315968"/>
            <a:ext cx="5751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④  CLIP → Linear probe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4645152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8F5"/>
                </a:solidFill>
                <a:latin typeface="Calibri"/>
              </a:rPr>
              <a:t>'Holding' or 'Empty' + confidence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5056632"/>
            <a:ext cx="5971032" cy="731520"/>
          </a:xfrm>
          <a:prstGeom prst="rect">
            <a:avLst/>
          </a:prstGeom>
          <a:solidFill>
            <a:srgbClr val="1E7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16168" y="5111496"/>
            <a:ext cx="5751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⑤  ≥ 75%  'Holding'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5440680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8F5"/>
                </a:solidFill>
                <a:latin typeface="Calibri"/>
              </a:rPr>
              <a:t>✓ Pass — continue to transfer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5852160"/>
            <a:ext cx="5971032" cy="731520"/>
          </a:xfrm>
          <a:prstGeom prst="rect">
            <a:avLst/>
          </a:prstGeom>
          <a:solidFill>
            <a:srgbClr val="C835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168" y="5907024"/>
            <a:ext cx="5751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⑤  &lt; 75% or 'Empty'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16168" y="6236208"/>
            <a:ext cx="5751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8F5"/>
                </a:solidFill>
                <a:latin typeface="Calibri"/>
              </a:rPr>
              <a:t>✗ Fail — open, return, retry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Slip Detection During Transfer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1365992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110002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Problem:  gripper sensors only checked at pick point — object can still slip during transit with no detection.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94560"/>
            <a:ext cx="547725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477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5F8A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61488"/>
            <a:ext cx="51114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Loop-close URP: gripper re-closes continuously during transit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Background thread reads AI2 width at ~25 Hz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If width drops below 11 mm mid-transit → slip flag set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CLIP re-verify triggered immediately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216" y="2194560"/>
            <a:ext cx="547725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331720"/>
            <a:ext cx="5477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5F8A"/>
                </a:solidFill>
                <a:latin typeface="Calibri"/>
              </a:rPr>
              <a:t>Slip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3096" y="2788920"/>
            <a:ext cx="5111496" cy="100584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862072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CLIP re-verify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291840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8F5"/>
                </a:solidFill>
                <a:latin typeface="Calibri"/>
              </a:rPr>
              <a:t>Triggers after slip flag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83096" y="3904488"/>
            <a:ext cx="5111496" cy="1005840"/>
          </a:xfrm>
          <a:prstGeom prst="rect">
            <a:avLst/>
          </a:prstGeom>
          <a:solidFill>
            <a:srgbClr val="1E7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3977640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Still 'Holding'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4407408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8F5"/>
                </a:solidFill>
                <a:latin typeface="Calibri"/>
              </a:rPr>
              <a:t>False alarm → continue to 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3096" y="5020056"/>
            <a:ext cx="5111496" cy="1005840"/>
          </a:xfrm>
          <a:prstGeom prst="rect">
            <a:avLst/>
          </a:prstGeom>
          <a:solidFill>
            <a:srgbClr val="C835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6" y="5093208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'Empty'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5522976"/>
            <a:ext cx="4974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8F5"/>
                </a:solidFill>
                <a:latin typeface="Calibri"/>
              </a:rPr>
              <a:t>Object lost → return to pick, retry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E4A"/>
                </a:solidFill>
                <a:latin typeface="Calibri"/>
              </a:rPr>
              <a:t>Strategy: re-approach and retry — up to MAX_RETRIES =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457200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1090879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28800"/>
            <a:ext cx="10771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C"/>
                </a:solidFill>
                <a:latin typeface="Calibri"/>
              </a:rPr>
              <a:t>Layer 1 fail (width / DI8)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85416"/>
            <a:ext cx="10771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Open gripper → return to pick approach → re-close → recheck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15768"/>
            <a:ext cx="457200" cy="82296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715768"/>
            <a:ext cx="1090879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761488"/>
            <a:ext cx="10771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C"/>
                </a:solidFill>
                <a:latin typeface="Calibri"/>
              </a:rPr>
              <a:t>Layer 2 fail (post-lift width)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118104"/>
            <a:ext cx="10771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Object slipped on lift → open → descend → retry full grip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48456"/>
            <a:ext cx="457200" cy="822960"/>
          </a:xfrm>
          <a:prstGeom prst="rect">
            <a:avLst/>
          </a:prstGeom>
          <a:solidFill>
            <a:srgbClr val="1E6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648456"/>
            <a:ext cx="1090879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694176"/>
            <a:ext cx="10771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C"/>
                </a:solidFill>
                <a:latin typeface="Calibri"/>
              </a:rPr>
              <a:t>Layer 3 fail (CLIP)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050792"/>
            <a:ext cx="10771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Visual not confirmed → open → return to approach → retry from top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581144"/>
            <a:ext cx="457200" cy="822960"/>
          </a:xfrm>
          <a:prstGeom prst="rect">
            <a:avLst/>
          </a:prstGeom>
          <a:solidFill>
            <a:srgbClr val="C872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581144"/>
            <a:ext cx="10908792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626864"/>
            <a:ext cx="10771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C"/>
                </a:solidFill>
                <a:latin typeface="Calibri"/>
              </a:rPr>
              <a:t>Slip during transit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983480"/>
            <a:ext cx="10771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CLIP re-verify → if lost, return to pick and retry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650992"/>
            <a:ext cx="11365992" cy="548640"/>
          </a:xfrm>
          <a:prstGeom prst="rect">
            <a:avLst/>
          </a:prstGeom>
          <a:solidFill>
            <a:srgbClr val="C872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74243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⚠  Detection and retry loop: implemented.  Advanced recovery (adapt pick pose, re-scan): Work in Progress.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336792"/>
            <a:ext cx="11365992" cy="548640"/>
          </a:xfrm>
          <a:prstGeom prst="rect">
            <a:avLst/>
          </a:prstGeom>
          <a:solidFill>
            <a:srgbClr val="1E7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428232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✓  Currently working: failure type identified, gripper opened, robot returns to pick approach, retries up to 3×.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End-to-End Autonomous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2181758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218175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
Detect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03120"/>
            <a:ext cx="21817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2194560"/>
            <a:ext cx="204459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YOLO +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4950" y="15087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4678" y="1280160"/>
            <a:ext cx="2181758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4678" y="1316736"/>
            <a:ext cx="218175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
Locate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4678" y="2103120"/>
            <a:ext cx="21817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7830" y="2194560"/>
            <a:ext cx="204459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ArUco → robot XYZ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8148" y="15087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7876" y="1280160"/>
            <a:ext cx="2181758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7876" y="1316736"/>
            <a:ext cx="218175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
Approach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7876" y="2103120"/>
            <a:ext cx="21817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1028" y="2194560"/>
            <a:ext cx="204459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100 mm above pick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1347" y="15087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1075" y="1280160"/>
            <a:ext cx="2181758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1075" y="1316736"/>
            <a:ext cx="218175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
Grip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1075" y="2103120"/>
            <a:ext cx="21817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04227" y="2194560"/>
            <a:ext cx="204459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Descend + close RG2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4545" y="150876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4273" y="1280160"/>
            <a:ext cx="2181758" cy="82296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4273" y="1316736"/>
            <a:ext cx="218175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
Check L1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4273" y="2103120"/>
            <a:ext cx="21817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7425" y="2194560"/>
            <a:ext cx="204459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Width + DI8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749040"/>
            <a:ext cx="2181758" cy="82296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785616"/>
            <a:ext cx="218175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
Lift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572000"/>
            <a:ext cx="21817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4663440"/>
            <a:ext cx="204459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+200 mm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4950" y="397764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84678" y="3749040"/>
            <a:ext cx="2181758" cy="82296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84678" y="3785616"/>
            <a:ext cx="218175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
Check L2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84678" y="4572000"/>
            <a:ext cx="21817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57830" y="4663440"/>
            <a:ext cx="204459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Post-lift width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8148" y="397764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57876" y="3749040"/>
            <a:ext cx="2181758" cy="822960"/>
          </a:xfrm>
          <a:prstGeom prst="rect">
            <a:avLst/>
          </a:prstGeom>
          <a:solidFill>
            <a:srgbClr val="1E6E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7876" y="3785616"/>
            <a:ext cx="218175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
CLIP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7876" y="4572000"/>
            <a:ext cx="21817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31028" y="4663440"/>
            <a:ext cx="204459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≥75% Holding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21347" y="397764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1075" y="3749040"/>
            <a:ext cx="2181758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1075" y="3785616"/>
            <a:ext cx="218175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
Transfer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31075" y="4572000"/>
            <a:ext cx="21817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04227" y="4663440"/>
            <a:ext cx="204459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Slip monitor 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94545" y="397764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4273" y="3749040"/>
            <a:ext cx="2181758" cy="82296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4273" y="3785616"/>
            <a:ext cx="218175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
Place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4273" y="4572000"/>
            <a:ext cx="218175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77425" y="4663440"/>
            <a:ext cx="204459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  <a:latin typeface="Calibri"/>
              </a:rPr>
              <a:t>Lower + release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3093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7E45"/>
                </a:solidFill>
                <a:latin typeface="Calibri"/>
              </a:rPr>
              <a:t>✓  Fully autonomous loop — no operator input between picks.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88920"/>
            <a:ext cx="4572000" cy="508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BEDE"/>
                </a:solidFill>
                <a:latin typeface="Calibri"/>
              </a:rPr>
              <a:t>90-trial evaluation protocol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Evaluation — 90-Trial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Calibri"/>
              </a:rPr>
              <a:t>30 successful picks  ·  30 failed picks  ·  30 slip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2807208" cy="53035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783080"/>
            <a:ext cx="2350008" cy="53035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87452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783080"/>
            <a:ext cx="1252728" cy="53035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87452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783080"/>
            <a:ext cx="5001768" cy="530352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874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13432"/>
            <a:ext cx="2807208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0487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True Positive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313432"/>
            <a:ext cx="2350008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40487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TP / (TP + FN)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2313432"/>
            <a:ext cx="1252728" cy="530352"/>
          </a:xfrm>
          <a:prstGeom prst="rect">
            <a:avLst/>
          </a:prstGeom>
          <a:solidFill>
            <a:srgbClr val="1E7E4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40487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≥ 85%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2313432"/>
            <a:ext cx="5001768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40487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Success correctly confirmed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843784"/>
            <a:ext cx="28072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3522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True Negative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2843784"/>
            <a:ext cx="23500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293522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TN / (TN + FP)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843784"/>
            <a:ext cx="1252728" cy="530352"/>
          </a:xfrm>
          <a:prstGeom prst="rect">
            <a:avLst/>
          </a:prstGeom>
          <a:solidFill>
            <a:srgbClr val="1E7E4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2935224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≥ 85%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2843784"/>
            <a:ext cx="5001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293522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Failure correctly detected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374136"/>
            <a:ext cx="2807208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46557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False Positive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3374136"/>
            <a:ext cx="2350008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3465576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FP / (FP + TN)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3374136"/>
            <a:ext cx="1252728" cy="530352"/>
          </a:xfrm>
          <a:prstGeom prst="rect">
            <a:avLst/>
          </a:prstGeom>
          <a:solidFill>
            <a:srgbClr val="1E7E4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346557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&lt; 20%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3374136"/>
            <a:ext cx="5001768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346557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Says success when actually failed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904488"/>
            <a:ext cx="28072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99592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Overall 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3904488"/>
            <a:ext cx="23500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37560" y="399592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(TP + TN) / 90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60" y="3904488"/>
            <a:ext cx="1252728" cy="530352"/>
          </a:xfrm>
          <a:prstGeom prst="rect">
            <a:avLst/>
          </a:prstGeom>
          <a:solidFill>
            <a:srgbClr val="1E7E4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3995928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≥ 85%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03720" y="3904488"/>
            <a:ext cx="5001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5160" y="399592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All correct decisions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4434840"/>
            <a:ext cx="2807208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52628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Recovery Success Rate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46120" y="4434840"/>
            <a:ext cx="2350008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7560" y="45262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Recovered / Attempted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23560" y="4434840"/>
            <a:ext cx="1252728" cy="530352"/>
          </a:xfrm>
          <a:prstGeom prst="rect">
            <a:avLst/>
          </a:prstGeom>
          <a:solidFill>
            <a:srgbClr val="1E7E4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452628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≥ 70%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03720" y="4434840"/>
            <a:ext cx="5001768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95160" y="452628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Failures resolved by recovery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4965192"/>
            <a:ext cx="28072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05663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Task Completion Rate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46120" y="4965192"/>
            <a:ext cx="235000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37560" y="505663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Placements / 90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4965192"/>
            <a:ext cx="1252728" cy="530352"/>
          </a:xfrm>
          <a:prstGeom prst="rect">
            <a:avLst/>
          </a:prstGeom>
          <a:solidFill>
            <a:srgbClr val="1E7E4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15000" y="505663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≥ 70%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03720" y="4965192"/>
            <a:ext cx="5001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95160" y="50566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  <a:latin typeface="Calibri"/>
              </a:rPr>
              <a:t>End-to-end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136599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10002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7200"/>
                </a:solidFill>
                <a:latin typeface="Calibri"/>
              </a:rPr>
              <a:t>[ INSERT RESULTS TABLE AND CHARTS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11000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Report: TPR, TNR, FPR, Overall Accuracy, Recovery Rate, Task Completion Rate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Show: detection-only pipeline vs. detection + recovery pipeline comparison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Include: screenshots from demo video — successful pick, detected failure, recovery sequence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5477256" cy="475488"/>
          </a:xfrm>
          <a:prstGeom prst="rect">
            <a:avLst/>
          </a:prstGeom>
          <a:solidFill>
            <a:srgbClr val="C872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5202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Current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55648"/>
            <a:ext cx="5477256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202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• No collision avoidance — robot does not detect obstacles in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5202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• Calibration drift — hand-eye re-calibration needed if camera shifts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5202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• CLIP accuracy not 100% — poor lighting / unusual crop angles cause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26280"/>
            <a:ext cx="5202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• No raw force readout — only binary DI8 contact flag available from UR10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5202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• Recovery assumes object stays in the same position between retries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280160"/>
            <a:ext cx="5477256" cy="475488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353312"/>
            <a:ext cx="5202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1755648"/>
            <a:ext cx="5477256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1920240"/>
            <a:ext cx="5202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• Adapt pick pose on retry — not just re-approach same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788920"/>
            <a:ext cx="5202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• Re-detect object position before each retry attempt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657600"/>
            <a:ext cx="5202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• Replace URP gripper control with direct force-torque sensor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526280"/>
            <a:ext cx="5202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• Generalise beyond cubes &amp; cylinders to arbitrary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5394960"/>
            <a:ext cx="5202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• Add collision-aware motion planning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64008"/>
          </a:xfrm>
          <a:prstGeom prst="rect">
            <a:avLst/>
          </a:prstGeom>
          <a:solidFill>
            <a:srgbClr val="2D5F8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8"/>
                </a:solidFill>
                <a:latin typeface="Calibri"/>
              </a:rPr>
              <a:t>✓  3-layer grasp failure detection: width  ·  DI8 contact  ·  CLIP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128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8"/>
                </a:solidFill>
                <a:latin typeface="Calibri"/>
              </a:rPr>
              <a:t>✓  Slip detection with automatic CLIP re-verify during transit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6265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8"/>
                </a:solidFill>
                <a:latin typeface="Calibri"/>
              </a:rPr>
              <a:t>✓  CLIP ViT-B/32 + Logistic Regression linear probe (trained on real gripper images)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1246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8"/>
                </a:solidFill>
                <a:latin typeface="Calibri"/>
              </a:rPr>
              <a:t>✓  Fully autonomous end-to-end loop with retry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622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8F8"/>
                </a:solidFill>
                <a:latin typeface="Calibri"/>
              </a:rPr>
              <a:t>✓  Evaluation targets: TPR ≥ 85%  ·  FPR &lt; 20%  ·  Task completion ≥ 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90B0"/>
                </a:solidFill>
                <a:latin typeface="Calibri"/>
              </a:rPr>
              <a:t>Myu Wai Shin  ·  PDE3802 Final Year Project  ·  Middlesex University  ·  2025/26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